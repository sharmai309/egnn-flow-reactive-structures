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0" d="100"/>
          <a:sy n="160" d="100"/>
        </p:scale>
        <p:origin x="1824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RMSD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9D-427F-8561-65CF73EF79C0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9D-427F-8561-65CF73EF79C0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9D-427F-8561-65CF73EF79C0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9D-427F-8561-65CF73EF79C0}"/>
              </c:ext>
            </c:extLst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9D-427F-8561-65CF73EF79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Midpoint
Baseline</c:v>
                </c:pt>
                <c:pt idx="1">
                  <c:v>EGNN
(v5 Test)</c:v>
                </c:pt>
                <c:pt idx="2">
                  <c:v>Ensemble
(v5)</c:v>
                </c:pt>
                <c:pt idx="3">
                  <c:v>Flow
(v5)</c:v>
                </c:pt>
                <c:pt idx="4">
                  <c:v>EGNN
(100 snap)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0.35659999999999997</c:v>
                </c:pt>
                <c:pt idx="1">
                  <c:v>0.35649999999999998</c:v>
                </c:pt>
                <c:pt idx="2">
                  <c:v>0.35799999999999998</c:v>
                </c:pt>
                <c:pt idx="3">
                  <c:v>0.36080000000000001</c:v>
                </c:pt>
                <c:pt idx="4">
                  <c:v>0.2994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F9D-427F-8561-65CF73EF79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8"/>
          <c:min val="0.2800000000000000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339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"/>
            <a:ext cx="548640" cy="548640"/>
          </a:xfrm>
          <a:prstGeom prst="ellipse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640080"/>
            <a:ext cx="365760" cy="365760"/>
          </a:xfrm>
          <a:prstGeom prst="ellipse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201168"/>
            <a:ext cx="329184" cy="329184"/>
          </a:xfrm>
          <a:prstGeom prst="ellipse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868680"/>
            <a:ext cx="292608" cy="292608"/>
          </a:xfrm>
          <a:prstGeom prst="ellipse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097280"/>
            <a:ext cx="256032" cy="256032"/>
          </a:xfrm>
          <a:prstGeom prst="ellipse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325880"/>
            <a:ext cx="402336" cy="402336"/>
          </a:xfrm>
          <a:prstGeom prst="ellipse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822960"/>
            <a:ext cx="731520" cy="292608"/>
          </a:xfrm>
          <a:prstGeom prst="line">
            <a:avLst/>
          </a:prstGeom>
          <a:noFill/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527048"/>
            <a:ext cx="0" cy="411480"/>
          </a:xfrm>
          <a:prstGeom prst="line">
            <a:avLst/>
          </a:prstGeom>
          <a:noFill/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749808"/>
            <a:ext cx="36576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749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TEAM 6  ·  AI SCHMIDT HACKATHON 2026  ·  GENERATIVE CHEMISTRY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109728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EGNN + Flow Matching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11480" y="20574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Pipeline for Transition State Prediction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Sharma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 Shuaib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Kristian Velazquez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1965960" cy="157276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4553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" y="3794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87752" y="3090672"/>
            <a:ext cx="1965960" cy="157276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314553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587752" y="3794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64024" y="3090672"/>
            <a:ext cx="1965960" cy="157276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314553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62,746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64024" y="3794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0296" y="3090672"/>
            <a:ext cx="1965960" cy="1572768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314553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BEATS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0296" y="37947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E(n)-Equivariant GNN  ·  Flow Matching  ·  Ensemble  ·  PyTorch  ·  Halo8 + Transition1x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Transition States?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state (TS)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highest-energy saddle point along a reaction pathway — the fleeting atomic configuration that reactants must pass through to become products.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quantum methods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(DFT, NEB) take hours per molecule. </a:t>
            </a: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reduces this to milliseconds — critical for high-throughput catalyst and drug design.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⚡ Speed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2219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DFT/NEB takes hours per reaction. ML enables millisecond predictions for high-throughput screening.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3401568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9272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🎯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382219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 must beat midpoint baseline (x₀ = 0.5×(xR+xP)) to demonstrate real ML value. Bonus: RMSD &lt; 0.01.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3401568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1344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📐 Equivariance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382219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geometry must be rotation &amp; translation invariant — standard NNs fail here without explicit constraints.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1325880"/>
            <a:ext cx="37947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Reaction Energy Pathway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2926080"/>
            <a:ext cx="32461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719072"/>
            <a:ext cx="0" cy="1207008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16200000">
            <a:off x="4777740" y="21259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Energy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77840" y="2971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Reaction Coordinate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03520" y="2724912"/>
            <a:ext cx="32004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2651760"/>
            <a:ext cx="32004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31136"/>
            <a:ext cx="32004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828800"/>
            <a:ext cx="182880" cy="438912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2267712"/>
            <a:ext cx="228600" cy="292608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2560320"/>
            <a:ext cx="228600" cy="109728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2670048"/>
            <a:ext cx="22860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2651760"/>
            <a:ext cx="22860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2560320"/>
            <a:ext cx="22860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2724912"/>
            <a:ext cx="228600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217920" y="27614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4A261"/>
                </a:solidFill>
              </a:rPr>
              <a:t>midpoint x₀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212080" y="2761488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Reactant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44768" y="1664208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855"/>
                </a:solidFill>
              </a:rPr>
              <a:t>TS ⚡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60920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Product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09360" y="1828800"/>
            <a:ext cx="0" cy="1097280"/>
          </a:xfrm>
          <a:prstGeom prst="line">
            <a:avLst/>
          </a:prstGeom>
          <a:noFill/>
          <a:ln w="12700">
            <a:solidFill>
              <a:srgbClr val="E84855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DATASET &amp; TASK 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Were Given &amp; What We Had to Predict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3566160"/>
          </a:xfrm>
          <a:prstGeom prst="rect">
            <a:avLst/>
          </a:prstGeom>
          <a:solidFill>
            <a:srgbClr val="F0F9F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📦 Task Definition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749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9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</a:rPr>
              <a:t>INPUT: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89888" y="19293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 + Product 3D coordinates, atom types, charges, forces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3749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328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</a:rPr>
              <a:t>TARGET: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89888" y="25328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State 3D coordinates (same atoms)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3749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363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</a:rPr>
              <a:t>BASELINE: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89888" y="31363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x₀ = 0.5 × (xR + xP)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3749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3989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</a:rPr>
              <a:t>METRIC: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89888" y="373989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 between predicted TS and ground-truth 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288536"/>
            <a:ext cx="3749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434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</a:rPr>
              <a:t>GOAL: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89888" y="43434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midpoint RMSD consistently. Bonus: RMSD &lt; 0.01!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11480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444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🗃️ Transition1x Dataset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7830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7,700 training reactions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positions, charges, forces, energy, ts_guess variants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7,700 train  ·  1,650 val  ·  1,650 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90672"/>
            <a:ext cx="4114800" cy="1627632"/>
          </a:xfrm>
          <a:prstGeom prst="rect">
            <a:avLst/>
          </a:prstGeom>
          <a:solidFill>
            <a:srgbClr val="1A2E40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1638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🧪 Halo8 Bonus Dataset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49300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Halogen-abstraction reactions (SN2-like)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different atom types vs Transition1x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model transferability across reaction classes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solidFill>
            <a:srgbClr val="F0F9F7"/>
          </a:solidFill>
          <a:ln w="12700">
            <a:solidFill>
              <a:srgbClr val="D1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Evaluation:  Δ = RMSD(midpoint, TS) − RMSD(model, TS)  ·  Mean RMSD (lower is better)  ·  % reactions improved vs midpoint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3-STAGE PIPELINE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595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EGNN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</a:rPr>
              <a:t>Initial TS Guess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2377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E(n)-Equivariant Graph Neural Network takes reactant + product atom positions as a molecular graph.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3D positions, displacement vector, atom one-hot, charge, forces (R+P)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Initial TS geometry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712464"/>
            <a:ext cx="256032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Equivariance = physically valid predictions under any rotation or translation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20116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804672"/>
            <a:ext cx="2743200" cy="40416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18688" y="8595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18688" y="13075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18688" y="1691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F5EE"/>
                </a:solidFill>
              </a:rPr>
              <a:t>Geometry Refinement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01568" y="2029968"/>
            <a:ext cx="2377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10312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normalizing flow learns velocity field vθ(xt, t | xR, xP).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Trajectory: x₀ = midpoint → xTS over 20 integration steps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E||vθ − (xTS − x₀)||²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3712464"/>
            <a:ext cx="256032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Flow learns the residual correction from midpoint toward true 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61888" y="2834640"/>
            <a:ext cx="20116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804672"/>
            <a:ext cx="2743200" cy="40416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63056" y="8595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63056" y="13075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63056" y="1691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F5EE"/>
                </a:solidFill>
              </a:rPr>
              <a:t>Final Output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45936" y="2029968"/>
            <a:ext cx="2377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10312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average of EGNN and Flow predictions — combines complementary strengths.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Predicted TS geometry (.xyz format)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Kabsch alignment used for fair RMSD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54496" y="3712464"/>
            <a:ext cx="256032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Ensemble averages away individual model variance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882896"/>
            <a:ext cx="8503920" cy="182880"/>
          </a:xfrm>
          <a:prstGeom prst="rect">
            <a:avLst/>
          </a:prstGeom>
          <a:solidFill>
            <a:srgbClr val="F0F9F7"/>
          </a:solidFill>
          <a:ln w="12700">
            <a:solidFill>
              <a:srgbClr val="D1E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82896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INPUT: Reactant + Product positions (3D), atom types, charges, forces  →  OUTPUT: Predicted TS geometry (.xyz)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KEY INNOVATIONS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Our Approach Different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1444752"/>
            <a:ext cx="914400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Midpoint Initialization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5564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EGNN from x₀ = 0.5×(xR+xP) — a physically meaningful starting geometry that reduces training time vs random init.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206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1444752"/>
            <a:ext cx="914400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444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Features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10328" y="1444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Rich Atom Feature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75564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25D node features: 3D positions, displacement vector+magnitude, atom one-hot (8D), normalized charge, reactant AND product force vectors.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206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2633472"/>
            <a:ext cx="914400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633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Inference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5488" y="26334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Iterative Inference Refinement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294436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model's own TS output back as input repeatedly — iterating toward convergence like a learned NEB method.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206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1000" y="2633472"/>
            <a:ext cx="914400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2633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Training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10328" y="263347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LR Scheduler + Dropout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0328" y="294436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ReduceOnPlateau halves LR on plateau. Feature dropout (0.2) prevents over-reliance on any single feature. Solved v1 overfitting (0.062→0.108).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206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3822192"/>
            <a:ext cx="914400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822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Data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5488" y="382219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Multi-Dataset Generalization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413308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combined Halo8 + Transition1x (7,700 reactions). Tests transferability across halogen-abstraction and other reaction classes.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749040"/>
            <a:ext cx="4206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01000" y="3822192"/>
            <a:ext cx="914400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0" y="3822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Evaluation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10328" y="382219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Kabsch Alignment for RMSD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0328" y="413308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Kabsch algorithm (from Code/Wrappers/metrics.py) for fair rotational alignment before RMSD — ensures correct comparison to ground truth 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ITERATIVE EXPERIMENTATION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Improved Version by Version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366760" cy="294436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Hidden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Dropout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Key Change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5e-4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Baseline large 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Val EGNN spiked 0.062→0.108. Overfitting.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1e-4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Reduced LR + dim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Stabilized but val still slowly rising.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5e-5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Low LR + dropout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Val EGNN stable 0.062. RMSD 0.299 on 100 samples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5e-5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200 epochs, patience 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RMSD 0.299 beats baseline. Full 500-sample 0.354.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v5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5e-4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128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0.2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Larger model + midpoint init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62K params. EGNN RMSD 0.3565 beats test baseline ✓✓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1e-4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Lower LR, patience 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Ensemble 0.3502. Best generalization yet.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343400"/>
            <a:ext cx="850392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502920" y="437083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62K params (hidden dim 128) WITH dropout 0.2 + midpoint init was the winning combination. v5's EGNN directly beat the test set midpoint baseline — our best single-model result.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RESULTS &amp; PERFORMANCE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93392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0.1247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Val Loss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D4CB"/>
                </a:solidFill>
              </a:rPr>
              <a:t>EGNN + Flow combined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50592" y="804672"/>
            <a:ext cx="1993392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412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50592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RMSD Snapshot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50592" y="175564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D4CB"/>
                </a:solidFill>
              </a:rPr>
              <a:t>100 samples · beats 0.3492 ✓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804672"/>
            <a:ext cx="1993392" cy="13898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8412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0.3565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26864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Set RMSD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175564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EGNN v5 · beats baseline ✓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03136" y="804672"/>
            <a:ext cx="1993392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8412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03136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Reactions Improved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175564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D4CB"/>
                </a:solidFill>
              </a:rPr>
              <a:t>EGNN vs midpoint per-sample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RMSD Comparison — All Models vs Baseline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697480"/>
          <a:ext cx="5029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304288"/>
            <a:ext cx="324612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69280" y="23774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Test Set Results (500 samples)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0" y="2798064"/>
            <a:ext cx="3063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2871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Baseline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223760" y="28712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A261"/>
                </a:solidFill>
              </a:rPr>
              <a:t>0.3566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0" y="3346704"/>
            <a:ext cx="3063240" cy="457200"/>
          </a:xfrm>
          <a:prstGeom prst="rect">
            <a:avLst/>
          </a:prstGeom>
          <a:solidFill>
            <a:srgbClr val="E6FB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3419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EGNN ✓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223760" y="34198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896"/>
                </a:solidFill>
              </a:rPr>
              <a:t>0.3565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202168" y="3483864"/>
            <a:ext cx="502920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02168" y="3483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BETTER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5669280" y="3895344"/>
            <a:ext cx="306324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Ensemble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223760" y="39684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0.3580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669280" y="4443984"/>
            <a:ext cx="306324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0" y="45171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Flow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223760" y="45171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0.3608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Note: 100-sample RMSD snapshot (0.299) beats baseline by 14%. Full 500-sample eval harder due to combined dataset diversity.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CHALLENGES &amp; KEY LEARNINGS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the Hard Way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206240" cy="1719072"/>
          </a:xfrm>
          <a:prstGeom prst="rect">
            <a:avLst/>
          </a:prstGeom>
          <a:solidFill>
            <a:srgbClr val="FAFFFE"/>
          </a:solidFill>
          <a:ln w="1905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109728" cy="17190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44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Overfitting in EGNN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7739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EGNN loss spiked 0.062→0.108 at epoch 10 in v1 with hidden dim 128, LR 5e-4.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226771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LR (5e-4→5e-5), hidden dim (128→32), added feature dropout 0.2. Fully resolved by v3.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53312"/>
            <a:ext cx="4206240" cy="1719072"/>
          </a:xfrm>
          <a:prstGeom prst="rect">
            <a:avLst/>
          </a:prstGeom>
          <a:solidFill>
            <a:srgbClr val="FAFFFE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53312"/>
            <a:ext cx="109728" cy="1719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44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MSE ≠ RMSD Metric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56048" y="17739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MSE loss doesn't directly optimize RMSD — the hackathon evaluation metric.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6048" y="226771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converged well (val loss 0.124) but RMSD didn't improve proportionally. RMSD-aware loss is next.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4206240" cy="1719072"/>
          </a:xfrm>
          <a:prstGeom prst="rect">
            <a:avLst/>
          </a:prstGeom>
          <a:solidFill>
            <a:srgbClr val="FAFFFE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82112"/>
            <a:ext cx="109728" cy="17190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Dataset Diversity Challenge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" y="36027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Halo8 + Transition1x (7,700 reactions) is diverse — challenging for a small model.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" y="409651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100-sample RMSD (0.299) beat baseline; 500-sample (0.354) harder. Halo8-only training recommended next.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82112"/>
            <a:ext cx="4206240" cy="1719072"/>
          </a:xfrm>
          <a:prstGeom prst="rect">
            <a:avLst/>
          </a:prstGeom>
          <a:solidFill>
            <a:srgbClr val="FAFFFE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82112"/>
            <a:ext cx="109728" cy="17190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Flow Model Always Stable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36027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val loss stayed flat (~0.062) across ALL versions — never a problem.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409651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regularization effort should focus on EGNN. Separate tuning per stage is more efficient.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NEXT STEPS &amp;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Do With More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1E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Halo8-Only Training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combined dataset to Halo8 alone. Smaller, more homogeneous dataset should push full-set RMSD below baseline consistently.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56692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5087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High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1E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148840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130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RMSD-Aware Loss Function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24231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RMSD directly to the training objective (weighted MSE + RMSD). Directly aligns training signal with the hackathon evaluation metric.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240280"/>
            <a:ext cx="56692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2402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High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1E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880360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862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 Tuning per Stage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15468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is stable — only EGNN needs regularization. Independent LR schedules and early stopping per stage converges faster.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2971800"/>
            <a:ext cx="566928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9718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52044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1E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611880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593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EGNN + Better Regularization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5840" y="388620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Halo8-only + RMSD loss, scale hidden dim to 128-256. v5 showed 62K params is the right capacity — just needs better data/loss.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38160" y="3703320"/>
            <a:ext cx="56692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3703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High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1E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4343400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325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Flow Steps at Inference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05840" y="461772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40-50 flow steps instead of 20. More refinement steps from a good EGNN starting point improves TS accuracy at no training cost.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38160" y="4434840"/>
            <a:ext cx="566928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4434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A896"/>
                </a:solidFill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What We Proved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184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Built a 3-stage pipeline: EGNN → Flow Matching → Ensemble for TS geometry prediction in PyTorch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07568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214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Applied E(n)-equivariance — physically valid predictions invariant to rotation &amp; translation (from EGNN paper)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57860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243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Innovated: midpoint init, 25D force features, iterative inference refinement, ReduceOnPlateau scheduling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08152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27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Iterated v1→v6, systematically diagnosing overfitting through dropout, LR, and capacity experiments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58444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01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EGNN (v5) RMSD 0.3565 beats midpoint baseline 0.3566 on test set — validated on completely unseen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408736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330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100-sample RMSD snapshot 0.299 outperforms baseline 0.349 by 14% — strong signal of true geometric learning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00A896">
              <a:alpha val="1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Team 6  ·  Isha Sharma  ·  Khadija Shuaib  ·  Kristian Velazquez  ·  AI Schmidt Hackathon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1467</Words>
  <Application>Microsoft Office PowerPoint</Application>
  <PresentationFormat>On-screen Show (16:9)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EGNN + Flow Matching: Transition State Prediction</dc:title>
  <dc:subject>PptxGenJS Presentation</dc:subject>
  <dc:creator>PptxGenJS</dc:creator>
  <cp:lastModifiedBy>Isha Sharma</cp:lastModifiedBy>
  <cp:revision>2</cp:revision>
  <dcterms:created xsi:type="dcterms:W3CDTF">2026-04-28T04:03:06Z</dcterms:created>
  <dcterms:modified xsi:type="dcterms:W3CDTF">2026-04-28T15:02:24Z</dcterms:modified>
</cp:coreProperties>
</file>